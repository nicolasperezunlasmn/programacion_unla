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4" r:id="rId2"/>
    <p:sldId id="258" r:id="rId3"/>
    <p:sldId id="266" r:id="rId4"/>
    <p:sldId id="265"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E92842-1459-40BF-A174-06F9F48B91DA}" v="102" dt="2024-08-12T12:20:12.5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3" autoAdjust="0"/>
    <p:restoredTop sz="94660"/>
  </p:normalViewPr>
  <p:slideViewPr>
    <p:cSldViewPr snapToGrid="0">
      <p:cViewPr varScale="1">
        <p:scale>
          <a:sx n="102" d="100"/>
          <a:sy n="102" d="100"/>
        </p:scale>
        <p:origin x="954"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3/12/2026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3/12/2026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685800" y="3132666"/>
            <a:ext cx="5311775" cy="3086019"/>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172200" y="3132666"/>
            <a:ext cx="5334000" cy="3086019"/>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3/12/2026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3/12/2026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3/12/2026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3/12/2026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3/12/2026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3/12/2026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3/12/2026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U4:Funciones y procedimientos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11032724" cy="4024125"/>
          </a:xfrm>
        </p:spPr>
        <p:txBody>
          <a:bodyPr>
            <a:normAutofit lnSpcReduction="10000"/>
          </a:bodyPr>
          <a:lstStyle/>
          <a:p>
            <a:pPr marL="0" indent="0" algn="just">
              <a:buNone/>
            </a:pPr>
            <a:r>
              <a:rPr lang="es-AR" sz="1600" dirty="0"/>
              <a:t>Conforme seguimos desarrollando programas nos vamos dando cuenta de que el tamaño de éstos va aumentando considerablemente, en cuanto realizamos una aplicación que haga tres o cuatro operaciones distintas tenemos un </a:t>
            </a:r>
            <a:r>
              <a:rPr lang="es-AR" sz="1600" b="1" dirty="0"/>
              <a:t>código fuente de un tamaño considerable</a:t>
            </a:r>
            <a:r>
              <a:rPr lang="es-AR" sz="1600" dirty="0"/>
              <a:t>. Además que a medida que vamos creando aplicaciones tenemos que repetir muchas veces determinados trozos de código. En programación esto se gestiona mediante</a:t>
            </a:r>
            <a:r>
              <a:rPr lang="es-AR" sz="1600" b="1" dirty="0"/>
              <a:t> procedimientos y funciones</a:t>
            </a:r>
            <a:r>
              <a:rPr lang="es-AR" sz="1600" dirty="0"/>
              <a:t>, muchos de ellos los importamos en librerías (como la </a:t>
            </a:r>
            <a:r>
              <a:rPr lang="es-AR" sz="1600" dirty="0" err="1"/>
              <a:t>stdio.h</a:t>
            </a:r>
            <a:r>
              <a:rPr lang="es-AR" sz="1600" dirty="0"/>
              <a:t>) y otros podemos realizarlos nosotros mismos.</a:t>
            </a:r>
          </a:p>
          <a:p>
            <a:pPr marL="0" indent="0" algn="just">
              <a:buNone/>
            </a:pPr>
            <a:r>
              <a:rPr lang="es-AR" sz="1600" b="1" u="sng" dirty="0"/>
              <a:t>Procedimiento:</a:t>
            </a:r>
          </a:p>
          <a:p>
            <a:pPr marL="0" indent="0" algn="just">
              <a:buNone/>
            </a:pPr>
            <a:r>
              <a:rPr lang="es-AR" sz="1600" dirty="0"/>
              <a:t>Un procedimiento es un fragmento de código cuya función es la de realizar una tarea específica independientemente del programa en el que se encuentre. Con los procedimientos se pueden crear algoritmos de ordenación de </a:t>
            </a:r>
            <a:r>
              <a:rPr lang="es-AR" sz="1600" dirty="0" err="1"/>
              <a:t>arrays</a:t>
            </a:r>
            <a:r>
              <a:rPr lang="es-AR" sz="1600" dirty="0"/>
              <a:t>, de modificación de datos, cálculos paralelos a la aplicación, activación de servicios, etc. Prácticamente cualquier cosa puede realizarse desde procedimientos independientes.</a:t>
            </a:r>
          </a:p>
          <a:p>
            <a:pPr marL="0" indent="0" algn="just">
              <a:buNone/>
            </a:pPr>
            <a:r>
              <a:rPr lang="es-AR" sz="1600" b="1" u="sng" dirty="0"/>
              <a:t>Función:</a:t>
            </a:r>
          </a:p>
          <a:p>
            <a:pPr marL="0" indent="0" algn="just">
              <a:buNone/>
            </a:pPr>
            <a:r>
              <a:rPr lang="es-AR" sz="1600" dirty="0"/>
              <a:t>Una función es exactamente lo mismo que un procedimiento salvo por un detalle, una función puede devolver un valor al programa principal y un procedimiento no. Con las funciones podemos realizar todas las tareas que se hacen con los procedimientos pero además pudiendo devolver valores (como por ejemplo el área de un triángulo).</a:t>
            </a:r>
          </a:p>
          <a:p>
            <a:pPr marL="0" indent="0" algn="just">
              <a:buNone/>
            </a:pPr>
            <a:endParaRPr lang="es-AR" dirty="0"/>
          </a:p>
          <a:p>
            <a:pPr marL="0" indent="0" algn="just">
              <a:buNone/>
            </a:pPr>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763110" y="1528480"/>
            <a:ext cx="1127538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¿Qué son?              </a:t>
            </a:r>
          </a:p>
        </p:txBody>
      </p:sp>
    </p:spTree>
    <p:extLst>
      <p:ext uri="{BB962C8B-B14F-4D97-AF65-F5344CB8AC3E}">
        <p14:creationId xmlns:p14="http://schemas.microsoft.com/office/powerpoint/2010/main" val="34097197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U4:Funciones y procedimientos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4702946" cy="4024125"/>
          </a:xfrm>
        </p:spPr>
        <p:txBody>
          <a:bodyPr>
            <a:normAutofit/>
          </a:bodyPr>
          <a:lstStyle/>
          <a:p>
            <a:pPr marL="0" indent="0" algn="just">
              <a:buNone/>
            </a:pPr>
            <a:endParaRPr lang="es-AR" dirty="0"/>
          </a:p>
          <a:p>
            <a:pPr marL="0" indent="0" algn="just">
              <a:buNone/>
            </a:pPr>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763110" y="1528480"/>
            <a:ext cx="1127538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¿Cómo se usan?              </a:t>
            </a:r>
          </a:p>
        </p:txBody>
      </p:sp>
      <p:pic>
        <p:nvPicPr>
          <p:cNvPr id="4" name="Imagen 3">
            <a:extLst>
              <a:ext uri="{FF2B5EF4-FFF2-40B4-BE49-F238E27FC236}">
                <a16:creationId xmlns:a16="http://schemas.microsoft.com/office/drawing/2014/main" id="{437DBF5A-3EEC-4076-97B7-1B619D6F08FB}"/>
              </a:ext>
            </a:extLst>
          </p:cNvPr>
          <p:cNvPicPr>
            <a:picLocks noChangeAspect="1"/>
          </p:cNvPicPr>
          <p:nvPr/>
        </p:nvPicPr>
        <p:blipFill rotWithShape="1">
          <a:blip r:embed="rId2"/>
          <a:srcRect l="14055" t="17347" r="29375" b="22287"/>
          <a:stretch/>
        </p:blipFill>
        <p:spPr>
          <a:xfrm>
            <a:off x="102287" y="2185123"/>
            <a:ext cx="6837705" cy="5025361"/>
          </a:xfrm>
          <a:prstGeom prst="rect">
            <a:avLst/>
          </a:prstGeom>
        </p:spPr>
      </p:pic>
      <p:pic>
        <p:nvPicPr>
          <p:cNvPr id="6" name="Imagen 5">
            <a:extLst>
              <a:ext uri="{FF2B5EF4-FFF2-40B4-BE49-F238E27FC236}">
                <a16:creationId xmlns:a16="http://schemas.microsoft.com/office/drawing/2014/main" id="{DF81B802-F7CF-4956-A845-D369752BBBB5}"/>
              </a:ext>
            </a:extLst>
          </p:cNvPr>
          <p:cNvPicPr>
            <a:picLocks noChangeAspect="1"/>
          </p:cNvPicPr>
          <p:nvPr/>
        </p:nvPicPr>
        <p:blipFill rotWithShape="1">
          <a:blip r:embed="rId3"/>
          <a:srcRect l="13762" t="16662" r="52815" b="24660"/>
          <a:stretch/>
        </p:blipFill>
        <p:spPr>
          <a:xfrm>
            <a:off x="6947363" y="2181366"/>
            <a:ext cx="5174509" cy="4311674"/>
          </a:xfrm>
          <a:prstGeom prst="rect">
            <a:avLst/>
          </a:prstGeom>
        </p:spPr>
      </p:pic>
      <p:sp>
        <p:nvSpPr>
          <p:cNvPr id="7" name="CuadroTexto 6">
            <a:extLst>
              <a:ext uri="{FF2B5EF4-FFF2-40B4-BE49-F238E27FC236}">
                <a16:creationId xmlns:a16="http://schemas.microsoft.com/office/drawing/2014/main" id="{47CC5E9D-91B5-498B-B79D-EDA9960258DC}"/>
              </a:ext>
            </a:extLst>
          </p:cNvPr>
          <p:cNvSpPr txBox="1"/>
          <p:nvPr/>
        </p:nvSpPr>
        <p:spPr>
          <a:xfrm>
            <a:off x="1553592" y="6259127"/>
            <a:ext cx="6010183" cy="369332"/>
          </a:xfrm>
          <a:prstGeom prst="rect">
            <a:avLst/>
          </a:prstGeom>
          <a:noFill/>
        </p:spPr>
        <p:txBody>
          <a:bodyPr wrap="square" rtlCol="0">
            <a:spAutoFit/>
          </a:bodyPr>
          <a:lstStyle/>
          <a:p>
            <a:r>
              <a:rPr lang="es-AR" dirty="0"/>
              <a:t>Luego del MAIN, se le da el cuerpo a las funciones</a:t>
            </a:r>
          </a:p>
        </p:txBody>
      </p:sp>
      <p:cxnSp>
        <p:nvCxnSpPr>
          <p:cNvPr id="9" name="Conector: angular 8">
            <a:extLst>
              <a:ext uri="{FF2B5EF4-FFF2-40B4-BE49-F238E27FC236}">
                <a16:creationId xmlns:a16="http://schemas.microsoft.com/office/drawing/2014/main" id="{286188B9-4190-43EB-9D4B-CF1E4700F3AF}"/>
              </a:ext>
            </a:extLst>
          </p:cNvPr>
          <p:cNvCxnSpPr>
            <a:cxnSpLocks/>
          </p:cNvCxnSpPr>
          <p:nvPr/>
        </p:nvCxnSpPr>
        <p:spPr>
          <a:xfrm rot="5400000" flipH="1" flipV="1">
            <a:off x="4598080" y="4051399"/>
            <a:ext cx="3720683" cy="71909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64EA4DBE-5F5B-4A89-A12B-C1E300591B8B}"/>
              </a:ext>
            </a:extLst>
          </p:cNvPr>
          <p:cNvSpPr txBox="1"/>
          <p:nvPr/>
        </p:nvSpPr>
        <p:spPr>
          <a:xfrm>
            <a:off x="3326711" y="3380570"/>
            <a:ext cx="3931698" cy="369332"/>
          </a:xfrm>
          <a:prstGeom prst="rect">
            <a:avLst/>
          </a:prstGeom>
          <a:noFill/>
        </p:spPr>
        <p:txBody>
          <a:bodyPr wrap="square" rtlCol="0">
            <a:spAutoFit/>
          </a:bodyPr>
          <a:lstStyle/>
          <a:p>
            <a:r>
              <a:rPr lang="es-AR" dirty="0"/>
              <a:t>TIPODATO nombre(Parámetros)</a:t>
            </a:r>
          </a:p>
        </p:txBody>
      </p:sp>
      <p:sp>
        <p:nvSpPr>
          <p:cNvPr id="13" name="CuadroTexto 12">
            <a:extLst>
              <a:ext uri="{FF2B5EF4-FFF2-40B4-BE49-F238E27FC236}">
                <a16:creationId xmlns:a16="http://schemas.microsoft.com/office/drawing/2014/main" id="{034F4334-C2BB-4E34-8671-22BE39A12195}"/>
              </a:ext>
            </a:extLst>
          </p:cNvPr>
          <p:cNvSpPr txBox="1"/>
          <p:nvPr/>
        </p:nvSpPr>
        <p:spPr>
          <a:xfrm>
            <a:off x="3140014" y="3748801"/>
            <a:ext cx="2601157" cy="646331"/>
          </a:xfrm>
          <a:prstGeom prst="rect">
            <a:avLst/>
          </a:prstGeom>
          <a:noFill/>
        </p:spPr>
        <p:txBody>
          <a:bodyPr wrap="square" rtlCol="0">
            <a:spAutoFit/>
          </a:bodyPr>
          <a:lstStyle/>
          <a:p>
            <a:r>
              <a:rPr lang="es-AR" dirty="0"/>
              <a:t>Llamado a función o procedimiento</a:t>
            </a:r>
          </a:p>
        </p:txBody>
      </p:sp>
    </p:spTree>
    <p:extLst>
      <p:ext uri="{BB962C8B-B14F-4D97-AF65-F5344CB8AC3E}">
        <p14:creationId xmlns:p14="http://schemas.microsoft.com/office/powerpoint/2010/main" val="30476790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U4:Funciones y procedimientos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4702946" cy="4024125"/>
          </a:xfrm>
        </p:spPr>
        <p:txBody>
          <a:bodyPr>
            <a:normAutofit/>
          </a:bodyPr>
          <a:lstStyle/>
          <a:p>
            <a:pPr marL="0" indent="0" algn="just">
              <a:buNone/>
            </a:pPr>
            <a:endParaRPr lang="es-AR" dirty="0"/>
          </a:p>
          <a:p>
            <a:pPr marL="0" indent="0" algn="just">
              <a:buNone/>
            </a:pPr>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763110" y="1528480"/>
            <a:ext cx="1127538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Ejercicios:</a:t>
            </a:r>
          </a:p>
        </p:txBody>
      </p:sp>
      <p:sp>
        <p:nvSpPr>
          <p:cNvPr id="8" name="CuadroTexto 7">
            <a:extLst>
              <a:ext uri="{FF2B5EF4-FFF2-40B4-BE49-F238E27FC236}">
                <a16:creationId xmlns:a16="http://schemas.microsoft.com/office/drawing/2014/main" id="{EADF62C4-F6F5-4BEE-9A95-C5E59C2F5C9B}"/>
              </a:ext>
            </a:extLst>
          </p:cNvPr>
          <p:cNvSpPr txBox="1"/>
          <p:nvPr/>
        </p:nvSpPr>
        <p:spPr>
          <a:xfrm>
            <a:off x="514905" y="2618913"/>
            <a:ext cx="10537794" cy="3970318"/>
          </a:xfrm>
          <a:prstGeom prst="rect">
            <a:avLst/>
          </a:prstGeom>
          <a:noFill/>
        </p:spPr>
        <p:txBody>
          <a:bodyPr wrap="square" rtlCol="0">
            <a:spAutoFit/>
          </a:bodyPr>
          <a:lstStyle/>
          <a:p>
            <a:pPr marL="342900" indent="-342900">
              <a:buAutoNum type="arabicParenR"/>
            </a:pPr>
            <a:r>
              <a:rPr lang="es-AR" dirty="0"/>
              <a:t>Crear las siguientes funciones y procedimientos, probándolos desde el </a:t>
            </a:r>
            <a:r>
              <a:rPr lang="es-AR" dirty="0" err="1"/>
              <a:t>main</a:t>
            </a:r>
            <a:r>
              <a:rPr lang="es-AR" dirty="0"/>
              <a:t>.</a:t>
            </a:r>
          </a:p>
          <a:p>
            <a:pPr marL="342900" indent="-342900">
              <a:buAutoNum type="arabicParenR"/>
            </a:pPr>
            <a:endParaRPr lang="es-AR" dirty="0"/>
          </a:p>
          <a:p>
            <a:r>
              <a:rPr lang="es-AR" dirty="0" err="1"/>
              <a:t>int</a:t>
            </a:r>
            <a:r>
              <a:rPr lang="es-AR" dirty="0"/>
              <a:t> </a:t>
            </a:r>
            <a:r>
              <a:rPr lang="es-AR" dirty="0" err="1"/>
              <a:t>calcularEdad</a:t>
            </a:r>
            <a:r>
              <a:rPr lang="es-AR" dirty="0"/>
              <a:t>(</a:t>
            </a:r>
            <a:r>
              <a:rPr lang="es-AR" dirty="0" err="1"/>
              <a:t>int</a:t>
            </a:r>
            <a:r>
              <a:rPr lang="es-AR" dirty="0"/>
              <a:t> nacimiento, </a:t>
            </a:r>
            <a:r>
              <a:rPr lang="es-AR" dirty="0" err="1"/>
              <a:t>int</a:t>
            </a:r>
            <a:r>
              <a:rPr lang="es-AR" dirty="0"/>
              <a:t> </a:t>
            </a:r>
            <a:r>
              <a:rPr lang="es-AR" dirty="0" err="1"/>
              <a:t>anioHoy</a:t>
            </a:r>
            <a:r>
              <a:rPr lang="es-AR" dirty="0"/>
              <a:t>);</a:t>
            </a:r>
          </a:p>
          <a:p>
            <a:r>
              <a:rPr lang="es-AR" dirty="0" err="1"/>
              <a:t>float</a:t>
            </a:r>
            <a:r>
              <a:rPr lang="es-AR" dirty="0"/>
              <a:t> </a:t>
            </a:r>
            <a:r>
              <a:rPr lang="es-AR" dirty="0" err="1"/>
              <a:t>calcularIndiceDeMasaCorporal</a:t>
            </a:r>
            <a:r>
              <a:rPr lang="es-AR" dirty="0"/>
              <a:t>(</a:t>
            </a:r>
            <a:r>
              <a:rPr lang="es-AR" dirty="0" err="1"/>
              <a:t>float</a:t>
            </a:r>
            <a:r>
              <a:rPr lang="es-AR" dirty="0"/>
              <a:t> altura, </a:t>
            </a:r>
            <a:r>
              <a:rPr lang="es-AR" dirty="0" err="1"/>
              <a:t>float</a:t>
            </a:r>
            <a:r>
              <a:rPr lang="es-AR" dirty="0"/>
              <a:t> peso);</a:t>
            </a:r>
          </a:p>
          <a:p>
            <a:r>
              <a:rPr lang="es-AR" dirty="0" err="1"/>
              <a:t>Void</a:t>
            </a:r>
            <a:r>
              <a:rPr lang="es-AR" dirty="0"/>
              <a:t> </a:t>
            </a:r>
            <a:r>
              <a:rPr lang="es-AR" dirty="0" err="1"/>
              <a:t>dibujarTriangulo</a:t>
            </a:r>
            <a:r>
              <a:rPr lang="es-AR" dirty="0"/>
              <a:t>(</a:t>
            </a:r>
            <a:r>
              <a:rPr lang="es-AR" dirty="0" err="1"/>
              <a:t>int</a:t>
            </a:r>
            <a:r>
              <a:rPr lang="es-AR" dirty="0"/>
              <a:t> base, </a:t>
            </a:r>
            <a:r>
              <a:rPr lang="es-AR" dirty="0" err="1"/>
              <a:t>int</a:t>
            </a:r>
            <a:r>
              <a:rPr lang="es-AR" dirty="0"/>
              <a:t> altura);</a:t>
            </a:r>
          </a:p>
          <a:p>
            <a:r>
              <a:rPr lang="es-AR" dirty="0" err="1"/>
              <a:t>Void</a:t>
            </a:r>
            <a:r>
              <a:rPr lang="es-AR" dirty="0"/>
              <a:t> </a:t>
            </a:r>
            <a:r>
              <a:rPr lang="es-AR" dirty="0" err="1"/>
              <a:t>calcularHipotenusa</a:t>
            </a:r>
            <a:r>
              <a:rPr lang="es-AR" dirty="0"/>
              <a:t>(</a:t>
            </a:r>
            <a:r>
              <a:rPr lang="es-AR" dirty="0" err="1"/>
              <a:t>float</a:t>
            </a:r>
            <a:r>
              <a:rPr lang="es-AR" dirty="0"/>
              <a:t> cateto1, </a:t>
            </a:r>
            <a:r>
              <a:rPr lang="es-AR" dirty="0" err="1"/>
              <a:t>float</a:t>
            </a:r>
            <a:r>
              <a:rPr lang="es-AR" dirty="0"/>
              <a:t> catero2);</a:t>
            </a:r>
          </a:p>
          <a:p>
            <a:r>
              <a:rPr lang="es-AR" dirty="0" err="1"/>
              <a:t>Int</a:t>
            </a:r>
            <a:r>
              <a:rPr lang="es-AR" dirty="0"/>
              <a:t> </a:t>
            </a:r>
            <a:r>
              <a:rPr lang="es-AR" dirty="0" err="1"/>
              <a:t>cantidadDeVecesQueApareceLaLetra</a:t>
            </a:r>
            <a:r>
              <a:rPr lang="es-AR" dirty="0"/>
              <a:t>(</a:t>
            </a:r>
            <a:r>
              <a:rPr lang="es-AR" dirty="0" err="1"/>
              <a:t>char</a:t>
            </a:r>
            <a:r>
              <a:rPr lang="es-AR" dirty="0"/>
              <a:t> letra, </a:t>
            </a:r>
            <a:r>
              <a:rPr lang="es-AR" dirty="0" err="1"/>
              <a:t>char</a:t>
            </a:r>
            <a:r>
              <a:rPr lang="es-AR" dirty="0"/>
              <a:t> </a:t>
            </a:r>
            <a:r>
              <a:rPr lang="es-AR" dirty="0" err="1"/>
              <a:t>oracion</a:t>
            </a:r>
            <a:r>
              <a:rPr lang="es-AR" dirty="0"/>
              <a:t>[100]);</a:t>
            </a:r>
          </a:p>
          <a:p>
            <a:r>
              <a:rPr lang="es-AR" dirty="0" err="1"/>
              <a:t>Int</a:t>
            </a:r>
            <a:r>
              <a:rPr lang="es-AR" dirty="0"/>
              <a:t> </a:t>
            </a:r>
            <a:r>
              <a:rPr lang="es-AR" dirty="0" err="1"/>
              <a:t>pedirEnteroPorTeclado</a:t>
            </a:r>
            <a:r>
              <a:rPr lang="es-AR" dirty="0"/>
              <a:t>();</a:t>
            </a:r>
          </a:p>
          <a:p>
            <a:r>
              <a:rPr lang="es-AR" dirty="0" err="1"/>
              <a:t>Float</a:t>
            </a:r>
            <a:r>
              <a:rPr lang="es-AR" dirty="0"/>
              <a:t> </a:t>
            </a:r>
            <a:r>
              <a:rPr lang="es-AR" dirty="0" err="1"/>
              <a:t>pedirFloatPorTeclado</a:t>
            </a:r>
            <a:r>
              <a:rPr lang="es-AR" dirty="0"/>
              <a:t>();</a:t>
            </a:r>
          </a:p>
          <a:p>
            <a:r>
              <a:rPr lang="es-AR" dirty="0" err="1"/>
              <a:t>Void</a:t>
            </a:r>
            <a:r>
              <a:rPr lang="es-AR" dirty="0"/>
              <a:t> </a:t>
            </a:r>
            <a:r>
              <a:rPr lang="es-AR" dirty="0" err="1"/>
              <a:t>cargarVector</a:t>
            </a:r>
            <a:r>
              <a:rPr lang="es-AR" dirty="0"/>
              <a:t>(); //definir un vector global solo por ahora</a:t>
            </a:r>
          </a:p>
          <a:p>
            <a:r>
              <a:rPr lang="es-AR" dirty="0" err="1"/>
              <a:t>Void</a:t>
            </a:r>
            <a:r>
              <a:rPr lang="es-AR" dirty="0"/>
              <a:t> </a:t>
            </a:r>
            <a:r>
              <a:rPr lang="es-AR" dirty="0" err="1"/>
              <a:t>mostrarVector</a:t>
            </a:r>
            <a:r>
              <a:rPr lang="es-AR" dirty="0"/>
              <a:t>();</a:t>
            </a:r>
          </a:p>
          <a:p>
            <a:r>
              <a:rPr lang="es-AR" dirty="0" err="1"/>
              <a:t>Int</a:t>
            </a:r>
            <a:r>
              <a:rPr lang="es-AR" dirty="0"/>
              <a:t> </a:t>
            </a:r>
            <a:r>
              <a:rPr lang="es-AR" dirty="0" err="1"/>
              <a:t>maximoVector</a:t>
            </a:r>
            <a:r>
              <a:rPr lang="es-AR" dirty="0"/>
              <a:t>();</a:t>
            </a:r>
          </a:p>
          <a:p>
            <a:r>
              <a:rPr lang="es-AR" dirty="0" err="1"/>
              <a:t>Int</a:t>
            </a:r>
            <a:r>
              <a:rPr lang="es-AR" dirty="0"/>
              <a:t> </a:t>
            </a:r>
            <a:r>
              <a:rPr lang="es-AR" dirty="0" err="1"/>
              <a:t>minimoVector</a:t>
            </a:r>
            <a:r>
              <a:rPr lang="es-AR" dirty="0"/>
              <a:t>();</a:t>
            </a:r>
          </a:p>
          <a:p>
            <a:r>
              <a:rPr lang="es-AR" dirty="0" err="1"/>
              <a:t>Int</a:t>
            </a:r>
            <a:r>
              <a:rPr lang="es-AR" dirty="0"/>
              <a:t> </a:t>
            </a:r>
            <a:r>
              <a:rPr lang="es-AR" dirty="0" err="1"/>
              <a:t>cantidadNumerosRepetidosEnElVector</a:t>
            </a:r>
            <a:r>
              <a:rPr lang="es-AR" dirty="0"/>
              <a:t>();</a:t>
            </a:r>
          </a:p>
        </p:txBody>
      </p:sp>
    </p:spTree>
    <p:extLst>
      <p:ext uri="{BB962C8B-B14F-4D97-AF65-F5344CB8AC3E}">
        <p14:creationId xmlns:p14="http://schemas.microsoft.com/office/powerpoint/2010/main" val="1235322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U4:Funciones y procedimientos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4702946" cy="4024125"/>
          </a:xfrm>
        </p:spPr>
        <p:txBody>
          <a:bodyPr>
            <a:normAutofit/>
          </a:bodyPr>
          <a:lstStyle/>
          <a:p>
            <a:pPr marL="0" indent="0" algn="just">
              <a:buNone/>
            </a:pPr>
            <a:endParaRPr lang="es-AR" dirty="0"/>
          </a:p>
          <a:p>
            <a:pPr marL="0" indent="0" algn="just">
              <a:buNone/>
            </a:pPr>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763110" y="1528480"/>
            <a:ext cx="1127538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Ejercicios:</a:t>
            </a:r>
          </a:p>
        </p:txBody>
      </p:sp>
      <p:sp>
        <p:nvSpPr>
          <p:cNvPr id="8" name="CuadroTexto 7">
            <a:extLst>
              <a:ext uri="{FF2B5EF4-FFF2-40B4-BE49-F238E27FC236}">
                <a16:creationId xmlns:a16="http://schemas.microsoft.com/office/drawing/2014/main" id="{EADF62C4-F6F5-4BEE-9A95-C5E59C2F5C9B}"/>
              </a:ext>
            </a:extLst>
          </p:cNvPr>
          <p:cNvSpPr txBox="1"/>
          <p:nvPr/>
        </p:nvSpPr>
        <p:spPr>
          <a:xfrm>
            <a:off x="479395" y="2610036"/>
            <a:ext cx="10537794" cy="2031325"/>
          </a:xfrm>
          <a:prstGeom prst="rect">
            <a:avLst/>
          </a:prstGeom>
          <a:noFill/>
        </p:spPr>
        <p:txBody>
          <a:bodyPr wrap="square" rtlCol="0">
            <a:spAutoFit/>
          </a:bodyPr>
          <a:lstStyle/>
          <a:p>
            <a:r>
              <a:rPr lang="es-AR" dirty="0"/>
              <a:t>2) Devolver 0 si es falso, 1 si es cierto, probarlo en el </a:t>
            </a:r>
            <a:r>
              <a:rPr lang="es-AR" dirty="0" err="1"/>
              <a:t>main</a:t>
            </a:r>
            <a:r>
              <a:rPr lang="es-AR" dirty="0"/>
              <a:t>, con casos positivos </a:t>
            </a:r>
            <a:r>
              <a:rPr lang="es-AR"/>
              <a:t>y negativos:</a:t>
            </a:r>
            <a:endParaRPr lang="es-AR" dirty="0"/>
          </a:p>
          <a:p>
            <a:endParaRPr lang="es-AR" dirty="0"/>
          </a:p>
          <a:p>
            <a:r>
              <a:rPr lang="es-AR" dirty="0" err="1"/>
              <a:t>Int</a:t>
            </a:r>
            <a:r>
              <a:rPr lang="es-AR" dirty="0"/>
              <a:t> </a:t>
            </a:r>
            <a:r>
              <a:rPr lang="es-AR" dirty="0" err="1"/>
              <a:t>esBisiesto</a:t>
            </a:r>
            <a:r>
              <a:rPr lang="es-AR" dirty="0"/>
              <a:t>(</a:t>
            </a:r>
            <a:r>
              <a:rPr lang="es-AR" dirty="0" err="1"/>
              <a:t>int</a:t>
            </a:r>
            <a:r>
              <a:rPr lang="es-AR" dirty="0"/>
              <a:t> </a:t>
            </a:r>
            <a:r>
              <a:rPr lang="es-AR" dirty="0" err="1"/>
              <a:t>anio</a:t>
            </a:r>
            <a:r>
              <a:rPr lang="es-AR" dirty="0"/>
              <a:t>);</a:t>
            </a:r>
          </a:p>
          <a:p>
            <a:r>
              <a:rPr lang="es-AR" dirty="0" err="1"/>
              <a:t>Int</a:t>
            </a:r>
            <a:r>
              <a:rPr lang="es-AR" dirty="0"/>
              <a:t> </a:t>
            </a:r>
            <a:r>
              <a:rPr lang="es-AR" dirty="0" err="1"/>
              <a:t>sonIguales</a:t>
            </a:r>
            <a:r>
              <a:rPr lang="es-AR" dirty="0"/>
              <a:t>(</a:t>
            </a:r>
            <a:r>
              <a:rPr lang="es-AR" dirty="0" err="1"/>
              <a:t>char</a:t>
            </a:r>
            <a:r>
              <a:rPr lang="es-AR" dirty="0"/>
              <a:t> nombre1[20], </a:t>
            </a:r>
            <a:r>
              <a:rPr lang="es-AR" dirty="0" err="1"/>
              <a:t>char</a:t>
            </a:r>
            <a:r>
              <a:rPr lang="es-AR" dirty="0"/>
              <a:t> nombre2[20]);</a:t>
            </a:r>
          </a:p>
          <a:p>
            <a:r>
              <a:rPr lang="es-AR" dirty="0" err="1"/>
              <a:t>Int</a:t>
            </a:r>
            <a:r>
              <a:rPr lang="es-AR" dirty="0"/>
              <a:t> </a:t>
            </a:r>
            <a:r>
              <a:rPr lang="es-AR" dirty="0" err="1"/>
              <a:t>esMayorDeEdad</a:t>
            </a:r>
            <a:r>
              <a:rPr lang="es-AR" dirty="0"/>
              <a:t>(</a:t>
            </a:r>
            <a:r>
              <a:rPr lang="es-AR" dirty="0" err="1"/>
              <a:t>int</a:t>
            </a:r>
            <a:r>
              <a:rPr lang="es-AR" dirty="0"/>
              <a:t> </a:t>
            </a:r>
            <a:r>
              <a:rPr lang="es-AR" dirty="0" err="1"/>
              <a:t>anioNacimiento</a:t>
            </a:r>
            <a:r>
              <a:rPr lang="es-AR" dirty="0"/>
              <a:t>, </a:t>
            </a:r>
            <a:r>
              <a:rPr lang="es-AR" dirty="0" err="1"/>
              <a:t>intAnioHoy</a:t>
            </a:r>
            <a:r>
              <a:rPr lang="es-AR" dirty="0"/>
              <a:t>);</a:t>
            </a:r>
          </a:p>
          <a:p>
            <a:r>
              <a:rPr lang="es-AR" dirty="0" err="1"/>
              <a:t>Int</a:t>
            </a:r>
            <a:r>
              <a:rPr lang="es-AR" dirty="0"/>
              <a:t> </a:t>
            </a:r>
            <a:r>
              <a:rPr lang="es-AR" dirty="0" err="1"/>
              <a:t>esPalindromo</a:t>
            </a:r>
            <a:r>
              <a:rPr lang="es-AR" dirty="0"/>
              <a:t>(</a:t>
            </a:r>
            <a:r>
              <a:rPr lang="es-AR" dirty="0" err="1"/>
              <a:t>char</a:t>
            </a:r>
            <a:r>
              <a:rPr lang="es-AR" dirty="0"/>
              <a:t> oración[100]);</a:t>
            </a:r>
          </a:p>
          <a:p>
            <a:endParaRPr lang="es-AR" dirty="0"/>
          </a:p>
        </p:txBody>
      </p:sp>
    </p:spTree>
    <p:extLst>
      <p:ext uri="{BB962C8B-B14F-4D97-AF65-F5344CB8AC3E}">
        <p14:creationId xmlns:p14="http://schemas.microsoft.com/office/powerpoint/2010/main" val="33679709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theme1.xml><?xml version="1.0" encoding="utf-8"?>
<a:theme xmlns:a="http://schemas.openxmlformats.org/drawingml/2006/main" name="Estela de condensación">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TM04033937[[fn=Estela de condensación]]</Template>
  <TotalTime>613</TotalTime>
  <Words>410</Words>
  <Application>Microsoft Office PowerPoint</Application>
  <PresentationFormat>Panorámica</PresentationFormat>
  <Paragraphs>36</Paragraphs>
  <Slides>4</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4</vt:i4>
      </vt:variant>
    </vt:vector>
  </HeadingPairs>
  <TitlesOfParts>
    <vt:vector size="7" baseType="lpstr">
      <vt:lpstr>Arial</vt:lpstr>
      <vt:lpstr>Century Gothic</vt:lpstr>
      <vt:lpstr>Estela de condensación</vt:lpstr>
      <vt:lpstr>U4:Funciones y procedimientos</vt:lpstr>
      <vt:lpstr>U4:Funciones y procedimientos</vt:lpstr>
      <vt:lpstr>U4:Funciones y procedimientos</vt:lpstr>
      <vt:lpstr>U4:Funciones y procedimientos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de computadoras</dc:title>
  <dc:creator>Nicolas Perez</dc:creator>
  <cp:lastModifiedBy>Nicolas Perez</cp:lastModifiedBy>
  <cp:revision>88</cp:revision>
  <dcterms:created xsi:type="dcterms:W3CDTF">2019-02-17T22:54:54Z</dcterms:created>
  <dcterms:modified xsi:type="dcterms:W3CDTF">2026-03-13T02:26:41Z</dcterms:modified>
</cp:coreProperties>
</file>